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6" r:id="rId5"/>
    <p:sldId id="257" r:id="rId6"/>
    <p:sldId id="258" r:id="rId7"/>
    <p:sldId id="290" r:id="rId8"/>
    <p:sldId id="288" r:id="rId9"/>
    <p:sldId id="289" r:id="rId10"/>
    <p:sldId id="269" r:id="rId11"/>
    <p:sldId id="285" r:id="rId12"/>
    <p:sldId id="259" r:id="rId13"/>
    <p:sldId id="282" r:id="rId14"/>
    <p:sldId id="283" r:id="rId15"/>
    <p:sldId id="284" r:id="rId16"/>
    <p:sldId id="279" r:id="rId17"/>
    <p:sldId id="268" r:id="rId18"/>
    <p:sldId id="286" r:id="rId19"/>
    <p:sldId id="261" r:id="rId20"/>
    <p:sldId id="274" r:id="rId21"/>
    <p:sldId id="275" r:id="rId22"/>
    <p:sldId id="276" r:id="rId23"/>
    <p:sldId id="280" r:id="rId24"/>
    <p:sldId id="281" r:id="rId25"/>
    <p:sldId id="277" r:id="rId26"/>
    <p:sldId id="278" r:id="rId27"/>
    <p:sldId id="26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1305C-C1DF-46AF-BD5A-4FB19EF5CEC1}" v="4" dt="2025-08-11T14:27:36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dimidoddi Solman" userId="7d918a0157bdc6b1" providerId="LiveId" clId="{F981305C-C1DF-46AF-BD5A-4FB19EF5CEC1}"/>
    <pc:docChg chg="custSel addSld delSld modSld">
      <pc:chgData name="Nadimidoddi Solman" userId="7d918a0157bdc6b1" providerId="LiveId" clId="{F981305C-C1DF-46AF-BD5A-4FB19EF5CEC1}" dt="2025-08-11T14:30:29.295" v="2424" actId="20577"/>
      <pc:docMkLst>
        <pc:docMk/>
      </pc:docMkLst>
      <pc:sldChg chg="modSp mod">
        <pc:chgData name="Nadimidoddi Solman" userId="7d918a0157bdc6b1" providerId="LiveId" clId="{F981305C-C1DF-46AF-BD5A-4FB19EF5CEC1}" dt="2025-08-11T14:29:08.092" v="2343" actId="14100"/>
        <pc:sldMkLst>
          <pc:docMk/>
          <pc:sldMk cId="2818185466" sldId="269"/>
        </pc:sldMkLst>
        <pc:spChg chg="mod">
          <ac:chgData name="Nadimidoddi Solman" userId="7d918a0157bdc6b1" providerId="LiveId" clId="{F981305C-C1DF-46AF-BD5A-4FB19EF5CEC1}" dt="2025-08-11T14:29:08.092" v="2343" actId="14100"/>
          <ac:spMkLst>
            <pc:docMk/>
            <pc:sldMk cId="2818185466" sldId="269"/>
            <ac:spMk id="3" creationId="{5D3FB433-3323-021C-C9C3-0A6E4274D444}"/>
          </ac:spMkLst>
        </pc:spChg>
      </pc:sldChg>
      <pc:sldChg chg="modSp mod">
        <pc:chgData name="Nadimidoddi Solman" userId="7d918a0157bdc6b1" providerId="LiveId" clId="{F981305C-C1DF-46AF-BD5A-4FB19EF5CEC1}" dt="2025-08-11T14:30:29.295" v="2424" actId="20577"/>
        <pc:sldMkLst>
          <pc:docMk/>
          <pc:sldMk cId="2374771241" sldId="274"/>
        </pc:sldMkLst>
        <pc:spChg chg="mod">
          <ac:chgData name="Nadimidoddi Solman" userId="7d918a0157bdc6b1" providerId="LiveId" clId="{F981305C-C1DF-46AF-BD5A-4FB19EF5CEC1}" dt="2025-08-11T14:30:29.295" v="2424" actId="20577"/>
          <ac:spMkLst>
            <pc:docMk/>
            <pc:sldMk cId="2374771241" sldId="274"/>
            <ac:spMk id="2" creationId="{5614464F-FC6C-C442-2862-5E3D5E367F63}"/>
          </ac:spMkLst>
        </pc:spChg>
      </pc:sldChg>
      <pc:sldChg chg="new del">
        <pc:chgData name="Nadimidoddi Solman" userId="7d918a0157bdc6b1" providerId="LiveId" clId="{F981305C-C1DF-46AF-BD5A-4FB19EF5CEC1}" dt="2025-08-11T14:19:13.211" v="1966" actId="2696"/>
        <pc:sldMkLst>
          <pc:docMk/>
          <pc:sldMk cId="2879002661" sldId="287"/>
        </pc:sldMkLst>
      </pc:sldChg>
      <pc:sldChg chg="addSp delSp modSp new mod">
        <pc:chgData name="Nadimidoddi Solman" userId="7d918a0157bdc6b1" providerId="LiveId" clId="{F981305C-C1DF-46AF-BD5A-4FB19EF5CEC1}" dt="2025-08-11T14:28:48.208" v="2342" actId="20577"/>
        <pc:sldMkLst>
          <pc:docMk/>
          <pc:sldMk cId="882086416" sldId="288"/>
        </pc:sldMkLst>
        <pc:spChg chg="mod">
          <ac:chgData name="Nadimidoddi Solman" userId="7d918a0157bdc6b1" providerId="LiveId" clId="{F981305C-C1DF-46AF-BD5A-4FB19EF5CEC1}" dt="2025-08-11T14:28:48.208" v="2342" actId="20577"/>
          <ac:spMkLst>
            <pc:docMk/>
            <pc:sldMk cId="882086416" sldId="288"/>
            <ac:spMk id="2" creationId="{14890670-9146-9FC6-31D3-594B934747A3}"/>
          </ac:spMkLst>
        </pc:spChg>
        <pc:spChg chg="del mod">
          <ac:chgData name="Nadimidoddi Solman" userId="7d918a0157bdc6b1" providerId="LiveId" clId="{F981305C-C1DF-46AF-BD5A-4FB19EF5CEC1}" dt="2025-08-11T14:27:40.454" v="2278" actId="21"/>
          <ac:spMkLst>
            <pc:docMk/>
            <pc:sldMk cId="882086416" sldId="288"/>
            <ac:spMk id="3" creationId="{5D5AD9B2-7340-8D02-A78F-3187AAA8BFA1}"/>
          </ac:spMkLst>
        </pc:spChg>
        <pc:spChg chg="mod">
          <ac:chgData name="Nadimidoddi Solman" userId="7d918a0157bdc6b1" providerId="LiveId" clId="{F981305C-C1DF-46AF-BD5A-4FB19EF5CEC1}" dt="2025-08-11T14:27:47.452" v="2280" actId="14100"/>
          <ac:spMkLst>
            <pc:docMk/>
            <pc:sldMk cId="882086416" sldId="288"/>
            <ac:spMk id="4" creationId="{7CDDA0FE-8D9C-B840-0FFF-F19E064693B8}"/>
          </ac:spMkLst>
        </pc:spChg>
        <pc:spChg chg="del mod">
          <ac:chgData name="Nadimidoddi Solman" userId="7d918a0157bdc6b1" providerId="LiveId" clId="{F981305C-C1DF-46AF-BD5A-4FB19EF5CEC1}" dt="2025-08-11T14:22:57.246" v="2016" actId="21"/>
          <ac:spMkLst>
            <pc:docMk/>
            <pc:sldMk cId="882086416" sldId="288"/>
            <ac:spMk id="5" creationId="{C54CC273-8F9F-5939-C6FD-EC6B3879E303}"/>
          </ac:spMkLst>
        </pc:spChg>
        <pc:spChg chg="del mod">
          <ac:chgData name="Nadimidoddi Solman" userId="7d918a0157bdc6b1" providerId="LiveId" clId="{F981305C-C1DF-46AF-BD5A-4FB19EF5CEC1}" dt="2025-08-11T14:22:53.758" v="2015" actId="21"/>
          <ac:spMkLst>
            <pc:docMk/>
            <pc:sldMk cId="882086416" sldId="288"/>
            <ac:spMk id="6" creationId="{68E2C1D2-E2E8-BF16-E567-1421CDF75376}"/>
          </ac:spMkLst>
        </pc:spChg>
        <pc:spChg chg="add del mod">
          <ac:chgData name="Nadimidoddi Solman" userId="7d918a0157bdc6b1" providerId="LiveId" clId="{F981305C-C1DF-46AF-BD5A-4FB19EF5CEC1}" dt="2025-08-11T14:23:21.550" v="2020" actId="21"/>
          <ac:spMkLst>
            <pc:docMk/>
            <pc:sldMk cId="882086416" sldId="288"/>
            <ac:spMk id="8" creationId="{0EDC25D0-4387-C713-741D-47E4A7296E2D}"/>
          </ac:spMkLst>
        </pc:spChg>
        <pc:spChg chg="add del mod">
          <ac:chgData name="Nadimidoddi Solman" userId="7d918a0157bdc6b1" providerId="LiveId" clId="{F981305C-C1DF-46AF-BD5A-4FB19EF5CEC1}" dt="2025-08-11T14:23:09.025" v="2019" actId="21"/>
          <ac:spMkLst>
            <pc:docMk/>
            <pc:sldMk cId="882086416" sldId="288"/>
            <ac:spMk id="10" creationId="{C76B3CA3-04F1-F482-10EB-D9F83D9A8B24}"/>
          </ac:spMkLst>
        </pc:spChg>
      </pc:sldChg>
      <pc:sldChg chg="addSp delSp modSp new mod">
        <pc:chgData name="Nadimidoddi Solman" userId="7d918a0157bdc6b1" providerId="LiveId" clId="{F981305C-C1DF-46AF-BD5A-4FB19EF5CEC1}" dt="2025-08-11T14:27:21.856" v="2257" actId="33524"/>
        <pc:sldMkLst>
          <pc:docMk/>
          <pc:sldMk cId="556043894" sldId="289"/>
        </pc:sldMkLst>
        <pc:spChg chg="mod">
          <ac:chgData name="Nadimidoddi Solman" userId="7d918a0157bdc6b1" providerId="LiveId" clId="{F981305C-C1DF-46AF-BD5A-4FB19EF5CEC1}" dt="2025-08-11T14:27:21.856" v="2257" actId="33524"/>
          <ac:spMkLst>
            <pc:docMk/>
            <pc:sldMk cId="556043894" sldId="289"/>
            <ac:spMk id="2" creationId="{2D8B469E-1C55-2539-1608-D18A3FB1FCC8}"/>
          </ac:spMkLst>
        </pc:spChg>
        <pc:spChg chg="del">
          <ac:chgData name="Nadimidoddi Solman" userId="7d918a0157bdc6b1" providerId="LiveId" clId="{F981305C-C1DF-46AF-BD5A-4FB19EF5CEC1}" dt="2025-08-11T14:22:05.890" v="1968"/>
          <ac:spMkLst>
            <pc:docMk/>
            <pc:sldMk cId="556043894" sldId="289"/>
            <ac:spMk id="3" creationId="{C502A99D-C77C-0740-83BF-8CC5E7B01DCC}"/>
          </ac:spMkLst>
        </pc:spChg>
        <pc:spChg chg="add mod">
          <ac:chgData name="Nadimidoddi Solman" userId="7d918a0157bdc6b1" providerId="LiveId" clId="{F981305C-C1DF-46AF-BD5A-4FB19EF5CEC1}" dt="2025-08-11T14:22:05.959" v="1969" actId="27636"/>
          <ac:spMkLst>
            <pc:docMk/>
            <pc:sldMk cId="556043894" sldId="289"/>
            <ac:spMk id="4" creationId="{09679F4B-F92D-AB0B-5340-DA31F55EA840}"/>
          </ac:spMkLst>
        </pc:spChg>
      </pc:sldChg>
      <pc:sldChg chg="modSp new mod">
        <pc:chgData name="Nadimidoddi Solman" userId="7d918a0157bdc6b1" providerId="LiveId" clId="{F981305C-C1DF-46AF-BD5A-4FB19EF5CEC1}" dt="2025-08-11T14:26:59.162" v="2255" actId="20577"/>
        <pc:sldMkLst>
          <pc:docMk/>
          <pc:sldMk cId="2902404247" sldId="290"/>
        </pc:sldMkLst>
        <pc:spChg chg="mod">
          <ac:chgData name="Nadimidoddi Solman" userId="7d918a0157bdc6b1" providerId="LiveId" clId="{F981305C-C1DF-46AF-BD5A-4FB19EF5CEC1}" dt="2025-08-11T14:25:12.803" v="2046" actId="20577"/>
          <ac:spMkLst>
            <pc:docMk/>
            <pc:sldMk cId="2902404247" sldId="290"/>
            <ac:spMk id="2" creationId="{79A1684A-B9E5-A521-4642-F5253071B542}"/>
          </ac:spMkLst>
        </pc:spChg>
        <pc:spChg chg="mod">
          <ac:chgData name="Nadimidoddi Solman" userId="7d918a0157bdc6b1" providerId="LiveId" clId="{F981305C-C1DF-46AF-BD5A-4FB19EF5CEC1}" dt="2025-08-11T14:26:59.162" v="2255" actId="20577"/>
          <ac:spMkLst>
            <pc:docMk/>
            <pc:sldMk cId="2902404247" sldId="290"/>
            <ac:spMk id="3" creationId="{0D035CDF-847D-81B5-65A2-DFCA2B8457F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8/11/2025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8/11/2025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8/11/2025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8/11/2025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8/11/2025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8/11/2025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8/11/2025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8/11/2025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8/11/2025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8/11/2025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8/11/2025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8/11/2025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hackerwebsecurity.com/differenza-tra-phishing-spear-phishing-e-watering-hole/ogwebcast-watering-hole-attacks_600_339_s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hlibraries.pressbooks.pub/mis3300/chapter/the-world-wide-web/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main.com@example.com/login" TargetMode="External"/><Relationship Id="rId2" Type="http://schemas.openxmlformats.org/officeDocument/2006/relationships/hyperlink" Target="https://www.google.com.accounts-security-check.com/logi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it.ly/3gG8XYZ" TargetMode="External"/><Relationship Id="rId5" Type="http://schemas.openxmlformats.org/officeDocument/2006/relationships/hyperlink" Target="http://127.127.5.1/" TargetMode="External"/><Relationship Id="rId4" Type="http://schemas.openxmlformats.org/officeDocument/2006/relationships/hyperlink" Target="http://https-www.paypal.in.webpps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legit-looking.com/" TargetMode="External"/><Relationship Id="rId2" Type="http://schemas.openxmlformats.org/officeDocument/2006/relationships/hyperlink" Target="https://ncr-exams-gov.in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370390" y="2212258"/>
            <a:ext cx="6468560" cy="2390222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Phishing</a:t>
            </a:r>
            <a:r>
              <a:rPr lang="en-US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websites detection using machine learning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2F3053E7-9A6B-B36D-B0ED-AFF51450355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2238" b="12238"/>
          <a:stretch>
            <a:fillRect/>
          </a:stretch>
        </p:blipFill>
        <p:spPr>
          <a:xfrm>
            <a:off x="6981063" y="1310655"/>
            <a:ext cx="5210937" cy="3988931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2E6566-D0F0-BC0C-8B01-ABFB34BF8A7A}"/>
              </a:ext>
            </a:extLst>
          </p:cNvPr>
          <p:cNvSpPr txBox="1"/>
          <p:nvPr/>
        </p:nvSpPr>
        <p:spPr>
          <a:xfrm>
            <a:off x="370390" y="4389120"/>
            <a:ext cx="63860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Presented by:                                                                 </a:t>
            </a:r>
          </a:p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Abendi Geetha</a:t>
            </a:r>
          </a:p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MCA</a:t>
            </a:r>
            <a:r>
              <a:rPr lang="en-IN" dirty="0">
                <a:solidFill>
                  <a:srgbClr val="002060"/>
                </a:solidFill>
                <a:latin typeface="Arial Black" panose="020B0A04020102020204" pitchFamily="34" charset="0"/>
              </a:rPr>
              <a:t>- 57            </a:t>
            </a:r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Phishing : </a:t>
            </a:r>
            <a:r>
              <a:rPr lang="en-US" b="1" dirty="0"/>
              <a:t>phishing attacks</a:t>
            </a:r>
            <a:r>
              <a:rPr lang="en-US" dirty="0"/>
              <a:t> are among the most common and dangerous forms of cybercrime.</a:t>
            </a:r>
          </a:p>
          <a:p>
            <a:r>
              <a:rPr lang="en-US" dirty="0"/>
              <a:t>These attacks typically involve </a:t>
            </a:r>
            <a:r>
              <a:rPr lang="en-US" b="1" dirty="0"/>
              <a:t>fraudulent websites </a:t>
            </a:r>
            <a:r>
              <a:rPr lang="en-US" dirty="0"/>
              <a:t>that mimic legitimate ones to </a:t>
            </a:r>
            <a:r>
              <a:rPr lang="en-US" b="1" dirty="0"/>
              <a:t>steal sensitive user information </a:t>
            </a:r>
            <a:r>
              <a:rPr lang="en-US" dirty="0"/>
              <a:t>such as passwords, credit card details, or personal data.</a:t>
            </a:r>
          </a:p>
          <a:p>
            <a:r>
              <a:rPr lang="en-US" dirty="0"/>
              <a:t>Traditional method of detection like blacklists, rule-based filters are reactive, struggle to detect </a:t>
            </a:r>
            <a:r>
              <a:rPr lang="en-US" b="1" dirty="0"/>
              <a:t>zero-day attacks</a:t>
            </a:r>
            <a:r>
              <a:rPr lang="en-US" dirty="0"/>
              <a:t>, and are easily bypassed by new phishing techniques.</a:t>
            </a:r>
          </a:p>
          <a:p>
            <a:r>
              <a:rPr lang="en-US" b="1" dirty="0"/>
              <a:t>Machine learning(ML) </a:t>
            </a:r>
            <a:r>
              <a:rPr lang="en-US" dirty="0"/>
              <a:t>offers a proactive and adaptive approach by learning to detect phishing websites base on patterns and features extracted from URL structure, content, and domain metadata.</a:t>
            </a:r>
          </a:p>
          <a:p>
            <a:r>
              <a:rPr lang="en-US" dirty="0"/>
              <a:t>This presentation explores how supervised machine learning algorithms along with deep learning technique called </a:t>
            </a:r>
            <a:r>
              <a:rPr lang="en-US" b="1" dirty="0"/>
              <a:t>neural networks </a:t>
            </a:r>
            <a:r>
              <a:rPr lang="en-US" dirty="0"/>
              <a:t>can be trained to classify websites as phishing or legitimate based on various extracted features.</a:t>
            </a:r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Phishing activity trends report, 4</a:t>
            </a:r>
            <a:r>
              <a:rPr lang="en-US" baseline="30000" dirty="0"/>
              <a:t>th</a:t>
            </a:r>
            <a:r>
              <a:rPr lang="en-US" dirty="0"/>
              <a:t> quarter 2024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69138D7-CCC7-035F-9390-E18A2C2E7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4900" y="1300480"/>
            <a:ext cx="10670540" cy="4064001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F08F66-8EA5-BE86-B658-2A5E788114E7}"/>
              </a:ext>
            </a:extLst>
          </p:cNvPr>
          <p:cNvSpPr txBox="1"/>
          <p:nvPr/>
        </p:nvSpPr>
        <p:spPr>
          <a:xfrm>
            <a:off x="1535182" y="5364481"/>
            <a:ext cx="955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report is provided by the APWG(Anti-Phishing working Group . Major findings : nearly 1 million phishing attacks recorded, webmail and social media most targeted sectors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02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1684A-B9E5-A521-4642-F5253071B5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035CDF-847D-81B5-65A2-DFCA2B8457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Literature review is taken from IEEE paper of phishing website detection using machine learning.</a:t>
            </a:r>
          </a:p>
          <a:p>
            <a:pPr marL="342900" indent="-342900">
              <a:buAutoNum type="arabicPeriod"/>
            </a:pPr>
            <a:r>
              <a:rPr lang="en-US" dirty="0"/>
              <a:t>List-based</a:t>
            </a:r>
          </a:p>
          <a:p>
            <a:r>
              <a:rPr lang="en-US" dirty="0"/>
              <a:t>2. Visual similarity based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240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90670-9146-9FC6-31D3-594B93474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884" y="-216310"/>
            <a:ext cx="10382864" cy="1347019"/>
          </a:xfrm>
        </p:spPr>
        <p:txBody>
          <a:bodyPr>
            <a:normAutofit/>
          </a:bodyPr>
          <a:lstStyle/>
          <a:p>
            <a:br>
              <a:rPr lang="en-IN" dirty="0"/>
            </a:br>
            <a:r>
              <a:rPr lang="en-IN" dirty="0"/>
              <a:t>List based detection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DA0FE-8D9C-B840-0FFF-F19E06469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9871" y="1494503"/>
            <a:ext cx="9861755" cy="5063613"/>
          </a:xfrm>
        </p:spPr>
        <p:txBody>
          <a:bodyPr>
            <a:normAutofit/>
          </a:bodyPr>
          <a:lstStyle/>
          <a:p>
            <a:r>
              <a:rPr lang="en-US" dirty="0"/>
              <a:t>List-based detection relies on maintaining databases of known URLs:</a:t>
            </a:r>
          </a:p>
          <a:p>
            <a:r>
              <a:rPr lang="en-US" b="1" dirty="0"/>
              <a:t>Blacklists</a:t>
            </a:r>
            <a:r>
              <a:rPr lang="en-US" dirty="0"/>
              <a:t>: Contain URLs or domains identified as phishing or malicious.</a:t>
            </a:r>
          </a:p>
          <a:p>
            <a:r>
              <a:rPr lang="en-US" b="1" dirty="0"/>
              <a:t>Whitelists</a:t>
            </a:r>
            <a:r>
              <a:rPr lang="en-US" dirty="0"/>
              <a:t>: Contain verified legitimate URLs or domains.</a:t>
            </a:r>
          </a:p>
          <a:p>
            <a:r>
              <a:rPr lang="en-US" dirty="0"/>
              <a:t>When a user attempts to visit a website, the system checks the URL against these lists:</a:t>
            </a:r>
          </a:p>
          <a:p>
            <a:r>
              <a:rPr lang="en-US" dirty="0"/>
              <a:t>If its on the blacklist </a:t>
            </a:r>
            <a:r>
              <a:rPr lang="en-US" dirty="0">
                <a:sym typeface="Wingdings" panose="05000000000000000000" pitchFamily="2" charset="2"/>
              </a:rPr>
              <a:t>access is blocked or flagged.</a:t>
            </a:r>
          </a:p>
          <a:p>
            <a:r>
              <a:rPr lang="en-US" dirty="0">
                <a:sym typeface="Wingdings" panose="05000000000000000000" pitchFamily="2" charset="2"/>
              </a:rPr>
              <a:t>If its on the whitelist access is allowed.</a:t>
            </a:r>
          </a:p>
          <a:p>
            <a:r>
              <a:rPr lang="en-US" dirty="0">
                <a:sym typeface="Wingdings" panose="05000000000000000000" pitchFamily="2" charset="2"/>
              </a:rPr>
              <a:t>If its not on either list the system may block it by default(in whitelist-only systems) or allow it but flag it for further analysis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8208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B469E-1C55-2539-1608-D18A3FB1F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similarity-based detection </a:t>
            </a:r>
            <a:endParaRPr lang="en-IN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9679F4B-F92D-AB0B-5340-DA31F55EA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4572000"/>
          </a:xfrm>
        </p:spPr>
        <p:txBody>
          <a:bodyPr>
            <a:normAutofit/>
          </a:bodyPr>
          <a:lstStyle/>
          <a:p>
            <a:r>
              <a:rPr lang="en-US" dirty="0"/>
              <a:t>Identifies phishing sites by comparing their visual appearance to legitimate websites.</a:t>
            </a:r>
          </a:p>
          <a:p>
            <a:r>
              <a:rPr lang="en-US" dirty="0"/>
              <a:t>1.</a:t>
            </a:r>
            <a:r>
              <a:rPr lang="en-US" b="1" dirty="0"/>
              <a:t>Screenshot capture</a:t>
            </a:r>
            <a:r>
              <a:rPr lang="en-US" dirty="0"/>
              <a:t>: The system takes a screenshot of the website a user is visiting.</a:t>
            </a:r>
          </a:p>
          <a:p>
            <a:r>
              <a:rPr lang="en-US" dirty="0"/>
              <a:t>2</a:t>
            </a:r>
            <a:r>
              <a:rPr lang="en-US" b="1" dirty="0"/>
              <a:t>.Feature extraction</a:t>
            </a:r>
            <a:r>
              <a:rPr lang="en-US" dirty="0"/>
              <a:t>: It extracts visual elements of the page are analyzed, such as: icons or favicons, color schemes, layout and structure.</a:t>
            </a:r>
          </a:p>
          <a:p>
            <a:r>
              <a:rPr lang="en-US" dirty="0"/>
              <a:t>3.</a:t>
            </a:r>
            <a:r>
              <a:rPr lang="en-US" b="1" dirty="0"/>
              <a:t>Comparison with legitimate sites</a:t>
            </a:r>
            <a:r>
              <a:rPr lang="en-US" dirty="0"/>
              <a:t>: The captured visual features are compared with those of known legitimate websites(either stored as images or feature vectors in a database).</a:t>
            </a:r>
          </a:p>
          <a:p>
            <a:r>
              <a:rPr lang="en-US" dirty="0"/>
              <a:t>5.</a:t>
            </a:r>
            <a:r>
              <a:rPr lang="en-US" b="1" dirty="0"/>
              <a:t>Similarity scoring</a:t>
            </a:r>
            <a:r>
              <a:rPr lang="en-US" dirty="0"/>
              <a:t>: based on the score and possibly additional context(like domain name, HTTPs status), the system determines whether to block or warn about the site.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43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5AA6B-8990-8A8C-842C-868B6EEC5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138960"/>
          </a:xfrm>
        </p:spPr>
        <p:txBody>
          <a:bodyPr/>
          <a:lstStyle/>
          <a:p>
            <a:r>
              <a:rPr lang="en-US" dirty="0"/>
              <a:t>System architecture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8D6541F-5FE5-BCCA-2D33-B2C8BADE9A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2422" y="2312344"/>
            <a:ext cx="847692" cy="2256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25B250-2FD9-7C56-57BC-98B8B96B43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311" y="1775886"/>
            <a:ext cx="1261110" cy="11389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843479-A8D7-04CD-1CFD-FD07C29BF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8419" y="1554384"/>
            <a:ext cx="1790855" cy="22099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850ED9-F201-6721-7702-3EE324E43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5744" y="1709750"/>
            <a:ext cx="1486029" cy="13717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30C8FE-4FEB-2293-6E73-4DCECB3941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4847" y="2303959"/>
            <a:ext cx="1776293" cy="2340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767DDB-B29C-01AF-0713-FDEE55E199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0091" y="3750936"/>
            <a:ext cx="167513" cy="12254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C8EE69-B6DA-3253-DF01-8D9E31769F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1828" y="4989778"/>
            <a:ext cx="4019596" cy="1585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64D54A-F01B-47D8-CE09-8EFBD5EDFC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7111" y="5164297"/>
            <a:ext cx="1165961" cy="8230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C158C7E-CB67-5493-809D-5408F49C73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97516" y="5162269"/>
            <a:ext cx="1219306" cy="10150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7F08984-36E5-919F-F8FD-F26B68765C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4518" y="5162269"/>
            <a:ext cx="1013548" cy="8001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FF81288-8CAE-1B36-CE3F-3417A49A6F1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09698" y="4898596"/>
            <a:ext cx="3524908" cy="9282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D107809-9F92-A144-0610-B98AE02A59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75870" y="3158320"/>
            <a:ext cx="1280271" cy="17402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D864598-DFD3-2EEC-AB0E-AE62295E40E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31795" y="3857648"/>
            <a:ext cx="780356" cy="18899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F5C4391-DB09-71A1-B299-583F223815D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67811" y="3292957"/>
            <a:ext cx="800169" cy="13183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99392B2-6E48-545F-6019-786BE57FF09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93412" y="4446294"/>
            <a:ext cx="1280271" cy="3048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04B3744-A086-3C54-9A6C-8E2DD64BA96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72223" y="3549773"/>
            <a:ext cx="749873" cy="80474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1CC0860-584B-4CE2-AAAD-77051C3F81C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93412" y="3253960"/>
            <a:ext cx="1242168" cy="3048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3FB433-3323-021C-C9C3-0A6E4274D444}"/>
              </a:ext>
            </a:extLst>
          </p:cNvPr>
          <p:cNvSpPr txBox="1"/>
          <p:nvPr/>
        </p:nvSpPr>
        <p:spPr>
          <a:xfrm>
            <a:off x="152399" y="1554384"/>
            <a:ext cx="352346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There are other methodologies such as traditional techniques like blacklist/whitelist filtering. Because of some drawbacks I tend to use machine learning and deep learning techniques for better accuracy and score. The methodology includes the system Architecture and flow of work used to train a model and performance evaluation with the outcome. Here's a step-by-step methodology I have used in phishing website detection.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8185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20082-1A05-4730-E2F6-F8A105D9A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URL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55DF57-5E22-67DC-74F5-3845479105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04900" y="1959436"/>
            <a:ext cx="9982200" cy="3853527"/>
          </a:xfrm>
        </p:spPr>
      </p:pic>
    </p:spTree>
    <p:extLst>
      <p:ext uri="{BB962C8B-B14F-4D97-AF65-F5344CB8AC3E}">
        <p14:creationId xmlns:p14="http://schemas.microsoft.com/office/powerpoint/2010/main" val="423739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and feature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787900" cy="4571999"/>
          </a:xfrm>
        </p:spPr>
        <p:txBody>
          <a:bodyPr/>
          <a:lstStyle/>
          <a:p>
            <a:r>
              <a:rPr lang="en-US" dirty="0"/>
              <a:t>Source of data:</a:t>
            </a:r>
          </a:p>
          <a:p>
            <a:pPr marL="0" indent="0">
              <a:buNone/>
            </a:pPr>
            <a:r>
              <a:rPr lang="en-US" dirty="0"/>
              <a:t>  Phish Tank –phishing URLs(5000)</a:t>
            </a:r>
          </a:p>
          <a:p>
            <a:pPr marL="0" indent="0">
              <a:buNone/>
            </a:pPr>
            <a:r>
              <a:rPr lang="en-US" dirty="0"/>
              <a:t>,  University of Brunswick- </a:t>
            </a:r>
          </a:p>
          <a:p>
            <a:pPr marL="0" indent="0">
              <a:buNone/>
            </a:pPr>
            <a:r>
              <a:rPr lang="en-US" dirty="0"/>
              <a:t>  legitimate URLs(5000)</a:t>
            </a:r>
          </a:p>
          <a:p>
            <a:r>
              <a:rPr lang="en-US" dirty="0"/>
              <a:t>Features are divided into three categories</a:t>
            </a:r>
          </a:p>
          <a:p>
            <a:r>
              <a:rPr lang="en-US" dirty="0"/>
              <a:t>Feature extraction python file is imported for creation of web application.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AF9F8F5-A203-5479-9256-42D1329CEF0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22260464"/>
              </p:ext>
            </p:extLst>
          </p:nvPr>
        </p:nvGraphicFramePr>
        <p:xfrm>
          <a:off x="5187702" y="1477624"/>
          <a:ext cx="5897880" cy="4353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343113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285656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115251364"/>
                    </a:ext>
                  </a:extLst>
                </a:gridCol>
              </a:tblGrid>
              <a:tr h="1077818">
                <a:tc>
                  <a:txBody>
                    <a:bodyPr/>
                    <a:lstStyle/>
                    <a:p>
                      <a:r>
                        <a:rPr lang="en-US" dirty="0"/>
                        <a:t>URL </a:t>
                      </a:r>
                    </a:p>
                    <a:p>
                      <a:r>
                        <a:rPr lang="en-US" dirty="0"/>
                        <a:t>based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Domain based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Html/JavaScript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067618"/>
                  </a:ext>
                </a:extLst>
              </a:tr>
              <a:tr h="743741">
                <a:tc>
                  <a:txBody>
                    <a:bodyPr/>
                    <a:lstStyle/>
                    <a:p>
                      <a:r>
                        <a:rPr lang="en-US" dirty="0"/>
                        <a:t>URL length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Domain 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On Mouseover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266081"/>
                  </a:ext>
                </a:extLst>
              </a:tr>
              <a:tr h="504566">
                <a:tc>
                  <a:txBody>
                    <a:bodyPr/>
                    <a:lstStyle/>
                    <a:p>
                      <a:r>
                        <a:rPr lang="en-US" dirty="0"/>
                        <a:t>‘@’ presence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Domain expiry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455743"/>
                  </a:ext>
                </a:extLst>
              </a:tr>
              <a:tr h="761435">
                <a:tc>
                  <a:txBody>
                    <a:bodyPr/>
                    <a:lstStyle/>
                    <a:p>
                      <a:r>
                        <a:rPr lang="en-US" dirty="0"/>
                        <a:t>IP address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DNS record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 click disabled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488304"/>
                  </a:ext>
                </a:extLst>
              </a:tr>
              <a:tr h="761435">
                <a:tc>
                  <a:txBody>
                    <a:bodyPr/>
                    <a:lstStyle/>
                    <a:p>
                      <a:r>
                        <a:rPr lang="en-US" dirty="0"/>
                        <a:t>https token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Prefix-suffix(hyphens)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Web forwarding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68915"/>
                  </a:ext>
                </a:extLst>
              </a:tr>
              <a:tr h="504566">
                <a:tc>
                  <a:txBody>
                    <a:bodyPr/>
                    <a:lstStyle/>
                    <a:p>
                      <a:r>
                        <a:rPr lang="en-US" dirty="0" err="1"/>
                        <a:t>url</a:t>
                      </a:r>
                      <a:r>
                        <a:rPr lang="en-US" dirty="0"/>
                        <a:t> shortening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redirections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244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BB6DC-58CC-A939-9B7F-1246C2B75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Elaboration of each feature with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8A94A-6B02-DF9E-B8CD-6F2261C63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478028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1. URL length: excessively long subdomains with extra directories, encoded characters to mimic legitimate sites. </a:t>
            </a:r>
          </a:p>
          <a:p>
            <a:r>
              <a:rPr lang="en-US" dirty="0"/>
              <a:t>Ex: </a:t>
            </a:r>
            <a:r>
              <a:rPr lang="en-US" dirty="0">
                <a:hlinkClick r:id="rId2"/>
              </a:rPr>
              <a:t>https://www.google.com.accounts-security-check.com/login</a:t>
            </a:r>
            <a:r>
              <a:rPr lang="en-US" dirty="0"/>
              <a:t>.</a:t>
            </a:r>
          </a:p>
          <a:p>
            <a:r>
              <a:rPr lang="en-US" dirty="0"/>
              <a:t>2.HaveAtSign: domain navigates after the sign. This leads to fraudulent webpage</a:t>
            </a:r>
          </a:p>
          <a:p>
            <a:r>
              <a:rPr lang="en-US" dirty="0"/>
              <a:t>Ex: </a:t>
            </a:r>
            <a:r>
              <a:rPr lang="en-US" dirty="0">
                <a:hlinkClick r:id="rId3"/>
              </a:rPr>
              <a:t>https://domain.com@example.com/login</a:t>
            </a:r>
            <a:endParaRPr lang="en-US" dirty="0"/>
          </a:p>
          <a:p>
            <a:r>
              <a:rPr lang="en-IN" dirty="0"/>
              <a:t>3. https token: in the domain part</a:t>
            </a:r>
          </a:p>
          <a:p>
            <a:r>
              <a:rPr lang="en-IN" dirty="0"/>
              <a:t>Ex: </a:t>
            </a:r>
            <a:r>
              <a:rPr lang="en-IN" dirty="0">
                <a:hlinkClick r:id="rId4"/>
              </a:rPr>
              <a:t>http://https-www.paypal.in.webpps</a:t>
            </a:r>
            <a:r>
              <a:rPr lang="en-IN" dirty="0"/>
              <a:t>......</a:t>
            </a:r>
          </a:p>
          <a:p>
            <a:r>
              <a:rPr lang="en-IN" dirty="0"/>
              <a:t>4. have IP address: is found instead of domain name</a:t>
            </a:r>
          </a:p>
          <a:p>
            <a:r>
              <a:rPr lang="en-IN" dirty="0"/>
              <a:t>Ex: </a:t>
            </a:r>
            <a:r>
              <a:rPr lang="en-IN" dirty="0">
                <a:hlinkClick r:id="rId5"/>
              </a:rPr>
              <a:t>http://127.127.5.1</a:t>
            </a:r>
            <a:endParaRPr lang="en-IN" dirty="0"/>
          </a:p>
          <a:p>
            <a:r>
              <a:rPr lang="en-IN" dirty="0"/>
              <a:t>5. URL shortening: HTTP redirect on a domain name that is short which links to the webpage that has a long URL.</a:t>
            </a:r>
          </a:p>
          <a:p>
            <a:r>
              <a:rPr lang="en-IN" dirty="0"/>
              <a:t>Ex: </a:t>
            </a:r>
            <a:r>
              <a:rPr lang="en-IN" dirty="0">
                <a:hlinkClick r:id="rId6"/>
              </a:rPr>
              <a:t>https://bit.ly/3gG8XYZ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14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9DE51-C1CF-1C7E-08B7-C3EFC4E86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based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E880C-4D40-BEBC-6DDF-5965C1406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6.Domain age: often less than 6 months old and frequently just a few days or weeks old. Register new domains and abandon them quickly once discovered.</a:t>
            </a:r>
          </a:p>
          <a:p>
            <a:r>
              <a:rPr lang="en-US" dirty="0"/>
              <a:t>7.Domain expiry: often registered for short durations typically 1 year or less and sometimes only a few months.</a:t>
            </a:r>
          </a:p>
          <a:p>
            <a:r>
              <a:rPr lang="en-US" dirty="0"/>
              <a:t>8.DNS record: checks for IP address ,nameserver records, mail exchange ,site verifications, start of authority (admin contact).</a:t>
            </a:r>
          </a:p>
          <a:p>
            <a:r>
              <a:rPr lang="en-US" dirty="0"/>
              <a:t>All the above were extracted by the WHOIS lookup.</a:t>
            </a:r>
          </a:p>
          <a:p>
            <a:r>
              <a:rPr lang="en-US" dirty="0"/>
              <a:t>9.Hyphens in domain : ex: </a:t>
            </a:r>
            <a:r>
              <a:rPr lang="en-US" dirty="0">
                <a:hlinkClick r:id="rId2"/>
              </a:rPr>
              <a:t>https://ncr-exams-gov.in</a:t>
            </a:r>
            <a:endParaRPr lang="en-US" dirty="0"/>
          </a:p>
          <a:p>
            <a:r>
              <a:rPr lang="en-US" dirty="0"/>
              <a:t>10.Redirections: spoof legitimate services ,bypass email filters</a:t>
            </a:r>
          </a:p>
          <a:p>
            <a:r>
              <a:rPr lang="en-US" dirty="0"/>
              <a:t>Ex: </a:t>
            </a:r>
            <a:r>
              <a:rPr lang="en-US" dirty="0">
                <a:hlinkClick r:id="rId3"/>
              </a:rPr>
              <a:t>http://legit-looking.com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http://phishingsite.com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515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22429-8FAA-9A51-7F28-A9F501D95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based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D443C-8477-C0F2-FC48-DD8D535F5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11.On mouse over: it is event of JavaScript attribute changes the link destination when the mouse hovers. When you hover, the real destination is different.</a:t>
            </a:r>
          </a:p>
          <a:p>
            <a:r>
              <a:rPr lang="en-US" dirty="0"/>
              <a:t>12.Right click disabled: preventing copying ,blocking link inspection, prevent source code viewing.</a:t>
            </a:r>
          </a:p>
          <a:p>
            <a:r>
              <a:rPr lang="en-US" dirty="0"/>
              <a:t>13.Web forwarding: URL redirection or domain forwarding .the phishers abuse web forwarding to hide the real destination and trick users.</a:t>
            </a:r>
          </a:p>
          <a:p>
            <a:r>
              <a:rPr lang="en-US" dirty="0"/>
              <a:t>masked forwarding – link forwards to another web page content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899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A2BE8-DABB-8EC2-BCBB-75ECDE732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188" y="76199"/>
            <a:ext cx="10117394" cy="1152833"/>
          </a:xfrm>
        </p:spPr>
        <p:txBody>
          <a:bodyPr/>
          <a:lstStyle/>
          <a:p>
            <a:r>
              <a:rPr lang="en-US" dirty="0"/>
              <a:t>heatmap to understand the correlation between feature variables.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812C31-12A7-E32C-F640-EE75C21241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5406" y="1327355"/>
            <a:ext cx="10117394" cy="534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7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5"/>
            <a:ext cx="10096500" cy="1233426"/>
          </a:xfrm>
        </p:spPr>
        <p:txBody>
          <a:bodyPr/>
          <a:lstStyle/>
          <a:p>
            <a:r>
              <a:rPr lang="en-US" dirty="0"/>
              <a:t>Algorithms used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3312160"/>
            <a:ext cx="10096501" cy="215518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Machine learning models:                    deep learning model:</a:t>
            </a:r>
          </a:p>
          <a:p>
            <a:r>
              <a:rPr lang="en-US" dirty="0"/>
              <a:t>                                            </a:t>
            </a:r>
          </a:p>
          <a:p>
            <a:endParaRPr lang="en-US" dirty="0"/>
          </a:p>
          <a:p>
            <a:r>
              <a:rPr lang="en-US" dirty="0"/>
              <a:t>  1. decision tree classifier                  1. multilayer perceptron's</a:t>
            </a:r>
          </a:p>
          <a:p>
            <a:endParaRPr lang="en-US" dirty="0"/>
          </a:p>
          <a:p>
            <a:r>
              <a:rPr lang="en-US" dirty="0"/>
              <a:t>   </a:t>
            </a:r>
          </a:p>
          <a:p>
            <a:r>
              <a:rPr lang="en-US" dirty="0"/>
              <a:t>  2. random forest classifier</a:t>
            </a:r>
          </a:p>
        </p:txBody>
      </p:sp>
    </p:spTree>
    <p:extLst>
      <p:ext uri="{BB962C8B-B14F-4D97-AF65-F5344CB8AC3E}">
        <p14:creationId xmlns:p14="http://schemas.microsoft.com/office/powerpoint/2010/main" val="131564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6905A-C3E3-334E-8D03-7C5922D70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table of algorithms classification report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8D03AA-C048-94A5-3669-6AE58ED350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4958287"/>
              </p:ext>
            </p:extLst>
          </p:nvPr>
        </p:nvGraphicFramePr>
        <p:xfrm>
          <a:off x="698501" y="1432561"/>
          <a:ext cx="5651500" cy="38240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8779">
                  <a:extLst>
                    <a:ext uri="{9D8B030D-6E8A-4147-A177-3AD203B41FA5}">
                      <a16:colId xmlns:a16="http://schemas.microsoft.com/office/drawing/2014/main" val="3202657940"/>
                    </a:ext>
                  </a:extLst>
                </a:gridCol>
                <a:gridCol w="1219482">
                  <a:extLst>
                    <a:ext uri="{9D8B030D-6E8A-4147-A177-3AD203B41FA5}">
                      <a16:colId xmlns:a16="http://schemas.microsoft.com/office/drawing/2014/main" val="1196790159"/>
                    </a:ext>
                  </a:extLst>
                </a:gridCol>
                <a:gridCol w="1347972">
                  <a:extLst>
                    <a:ext uri="{9D8B030D-6E8A-4147-A177-3AD203B41FA5}">
                      <a16:colId xmlns:a16="http://schemas.microsoft.com/office/drawing/2014/main" val="3372137865"/>
                    </a:ext>
                  </a:extLst>
                </a:gridCol>
                <a:gridCol w="1485267">
                  <a:extLst>
                    <a:ext uri="{9D8B030D-6E8A-4147-A177-3AD203B41FA5}">
                      <a16:colId xmlns:a16="http://schemas.microsoft.com/office/drawing/2014/main" val="4157145744"/>
                    </a:ext>
                  </a:extLst>
                </a:gridCol>
              </a:tblGrid>
              <a:tr h="991831"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kern="100">
                          <a:effectLst/>
                        </a:rPr>
                        <a:t>Metric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kern="100">
                          <a:effectLst/>
                        </a:rPr>
                        <a:t>Decision Tree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kern="100">
                          <a:effectLst/>
                        </a:rPr>
                        <a:t>Random Forest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kern="100" dirty="0">
                          <a:effectLst/>
                        </a:rPr>
                        <a:t>MLP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236144"/>
                  </a:ext>
                </a:extLst>
              </a:tr>
              <a:tr h="613448"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kern="100">
                          <a:effectLst/>
                        </a:rPr>
                        <a:t>Accuracy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kern="100" dirty="0">
                          <a:effectLst/>
                        </a:rPr>
                        <a:t>78.75%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kern="100">
                          <a:effectLst/>
                        </a:rPr>
                        <a:t>78.00%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b="1" kern="100" dirty="0">
                          <a:effectLst/>
                        </a:rPr>
                        <a:t>84.6%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4558242"/>
                  </a:ext>
                </a:extLst>
              </a:tr>
              <a:tr h="739582"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kern="100">
                          <a:effectLst/>
                        </a:rPr>
                        <a:t>Precision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kern="100" dirty="0">
                          <a:effectLst/>
                        </a:rPr>
                        <a:t>97.32%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b="1" kern="100" dirty="0">
                          <a:effectLst/>
                        </a:rPr>
                        <a:t>98.58%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kern="100">
                          <a:effectLst/>
                        </a:rPr>
                        <a:t>93.59%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4718457"/>
                  </a:ext>
                </a:extLst>
              </a:tr>
              <a:tr h="739582"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kern="100">
                          <a:effectLst/>
                        </a:rPr>
                        <a:t>Recall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kern="100">
                          <a:effectLst/>
                        </a:rPr>
                        <a:t>60.29%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kern="100" dirty="0">
                          <a:effectLst/>
                        </a:rPr>
                        <a:t>56.27%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b="1" kern="100" dirty="0">
                          <a:effectLst/>
                        </a:rPr>
                        <a:t>73.92%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6013986"/>
                  </a:ext>
                </a:extLst>
              </a:tr>
              <a:tr h="739582"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kern="100">
                          <a:effectLst/>
                        </a:rPr>
                        <a:t>F1 Score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kern="100">
                          <a:effectLst/>
                        </a:rPr>
                        <a:t>74.74%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kern="100">
                          <a:effectLst/>
                        </a:rPr>
                        <a:t>71.89%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051685" algn="l"/>
                          <a:tab pos="2084705" algn="l"/>
                        </a:tabLst>
                      </a:pPr>
                      <a:r>
                        <a:rPr lang="en-IN" sz="1400" b="1" kern="100" dirty="0">
                          <a:effectLst/>
                        </a:rPr>
                        <a:t>82.92%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93287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06581D2-5FD8-E3F5-E545-EA47260BCA33}"/>
              </a:ext>
            </a:extLst>
          </p:cNvPr>
          <p:cNvSpPr txBox="1"/>
          <p:nvPr/>
        </p:nvSpPr>
        <p:spPr>
          <a:xfrm>
            <a:off x="7020560" y="1574800"/>
            <a:ext cx="39522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Multilayer perceptron outperforms decision tree and random forest in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Recall : finding all phishing websites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F1 score: best balance between precision and recall .Gives us a balanced measure of how good your model is at</a:t>
            </a:r>
          </a:p>
        </p:txBody>
      </p:sp>
    </p:spTree>
    <p:extLst>
      <p:ext uri="{BB962C8B-B14F-4D97-AF65-F5344CB8AC3E}">
        <p14:creationId xmlns:p14="http://schemas.microsoft.com/office/powerpoint/2010/main" val="176467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Results and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155440"/>
            <a:ext cx="10071099" cy="1010266"/>
          </a:xfrm>
        </p:spPr>
        <p:txBody>
          <a:bodyPr/>
          <a:lstStyle/>
          <a:p>
            <a:r>
              <a:rPr lang="en-US" dirty="0"/>
              <a:t>  testing phishing website detector with random URLs and analyzing the final output</a:t>
            </a:r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4464F-FC6C-C442-2862-5E3D5E367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Created an User interface for real time detection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3ECD1F-37C8-72E4-7022-F116E197FD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1452879"/>
            <a:ext cx="10142219" cy="5080001"/>
          </a:xfrm>
        </p:spPr>
      </p:pic>
    </p:spTree>
    <p:extLst>
      <p:ext uri="{BB962C8B-B14F-4D97-AF65-F5344CB8AC3E}">
        <p14:creationId xmlns:p14="http://schemas.microsoft.com/office/powerpoint/2010/main" val="237477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8950C-9EA7-1783-0511-FD88EAED3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Takes the input as URL and detects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CE9D40-4019-DE89-A199-FBC3E336B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1" y="1381760"/>
            <a:ext cx="9980682" cy="5120640"/>
          </a:xfrm>
        </p:spPr>
      </p:pic>
    </p:spTree>
    <p:extLst>
      <p:ext uri="{BB962C8B-B14F-4D97-AF65-F5344CB8AC3E}">
        <p14:creationId xmlns:p14="http://schemas.microsoft.com/office/powerpoint/2010/main" val="240668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EC78B-327D-9AF3-4839-59FB033EE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 checked result is displayed.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C01EE8-3BA3-1E48-6965-09CA3DA10F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1354238"/>
            <a:ext cx="9980682" cy="4817962"/>
          </a:xfrm>
        </p:spPr>
      </p:pic>
    </p:spTree>
    <p:extLst>
      <p:ext uri="{BB962C8B-B14F-4D97-AF65-F5344CB8AC3E}">
        <p14:creationId xmlns:p14="http://schemas.microsoft.com/office/powerpoint/2010/main" val="3633287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926CF-AAB5-F21B-8C06-070F5E2F7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domain name given as input to check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8CD3EB-A0A6-500E-400A-E60414A95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1234678"/>
            <a:ext cx="9980681" cy="4937522"/>
          </a:xfrm>
        </p:spPr>
      </p:pic>
    </p:spTree>
    <p:extLst>
      <p:ext uri="{BB962C8B-B14F-4D97-AF65-F5344CB8AC3E}">
        <p14:creationId xmlns:p14="http://schemas.microsoft.com/office/powerpoint/2010/main" val="105887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2C5C08-CD41-941A-6806-7DFFE3D736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" y="782320"/>
            <a:ext cx="11013440" cy="5389880"/>
          </a:xfrm>
        </p:spPr>
      </p:pic>
    </p:spTree>
    <p:extLst>
      <p:ext uri="{BB962C8B-B14F-4D97-AF65-F5344CB8AC3E}">
        <p14:creationId xmlns:p14="http://schemas.microsoft.com/office/powerpoint/2010/main" val="2610827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23C5A-7331-A4A6-8CC1-DA387A10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5B157-4138-D7EB-AE8B-3629F147D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extraction is a critical step in detecting phishing websites effectively.</a:t>
            </a:r>
          </a:p>
          <a:p>
            <a:r>
              <a:rPr lang="en-US" dirty="0"/>
              <a:t>A combination of URL-based, domain-based, HTML/JavaScript-based, and behavioral features enhances detection accuracy. Properly selected features help machine learning models distinguish phishing sites from legitimate ones with high precision.</a:t>
            </a:r>
          </a:p>
          <a:p>
            <a:r>
              <a:rPr lang="en-US" dirty="0"/>
              <a:t> it is essential to continuously update and refine feature sets.</a:t>
            </a:r>
          </a:p>
          <a:p>
            <a:r>
              <a:rPr lang="en-US" dirty="0"/>
              <a:t>With robust feature extraction and smart modeling, we can proactively defend against phishing attacks and protect users online.</a:t>
            </a:r>
          </a:p>
          <a:p>
            <a:r>
              <a:rPr lang="en-US" dirty="0"/>
              <a:t>Don’t click the link if it looks suspicious.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0345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D1A51-7503-C7B1-4423-742D3676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 and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F5B53-81BC-D6C4-81EC-34F1B8973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Integration with Deep Learning</a:t>
            </a:r>
          </a:p>
          <a:p>
            <a:r>
              <a:rPr lang="en-US" dirty="0"/>
              <a:t>Leverage </a:t>
            </a:r>
            <a:r>
              <a:rPr lang="en-US" b="1" dirty="0"/>
              <a:t>CNNs</a:t>
            </a:r>
            <a:r>
              <a:rPr lang="en-US" dirty="0"/>
              <a:t> or </a:t>
            </a:r>
            <a:r>
              <a:rPr lang="en-US" b="1" dirty="0"/>
              <a:t>transformer-based models</a:t>
            </a:r>
            <a:r>
              <a:rPr lang="en-US" dirty="0"/>
              <a:t> to analyze page screenshots or code content.</a:t>
            </a:r>
          </a:p>
          <a:p>
            <a:r>
              <a:rPr lang="en-US" dirty="0"/>
              <a:t>Combine </a:t>
            </a:r>
            <a:r>
              <a:rPr lang="en-US" b="1" dirty="0"/>
              <a:t>image-based</a:t>
            </a:r>
            <a:r>
              <a:rPr lang="en-US" dirty="0"/>
              <a:t> and </a:t>
            </a:r>
            <a:r>
              <a:rPr lang="en-US" b="1" dirty="0"/>
              <a:t>text-based</a:t>
            </a:r>
            <a:r>
              <a:rPr lang="en-US" dirty="0"/>
              <a:t> features for multi-modal detection</a:t>
            </a:r>
          </a:p>
          <a:p>
            <a:r>
              <a:rPr lang="en-US" b="1" dirty="0"/>
              <a:t>Collaboration with ISPs and Security Platforms</a:t>
            </a:r>
          </a:p>
          <a:p>
            <a:r>
              <a:rPr lang="en-US" dirty="0"/>
              <a:t>Work with service providers to </a:t>
            </a:r>
            <a:r>
              <a:rPr lang="en-US" b="1" dirty="0"/>
              <a:t>blacklist phishing domains early</a:t>
            </a:r>
            <a:r>
              <a:rPr lang="en-US" dirty="0"/>
              <a:t>.</a:t>
            </a:r>
          </a:p>
          <a:p>
            <a:r>
              <a:rPr lang="en-US" dirty="0"/>
              <a:t>Integrate detection systems with </a:t>
            </a:r>
            <a:r>
              <a:rPr lang="en-US" b="1" dirty="0"/>
              <a:t>SIEMs</a:t>
            </a:r>
            <a:r>
              <a:rPr lang="en-US" dirty="0"/>
              <a:t> (Security Information and Event Management) for enterprise security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666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C7E1D59-4E65-DBE3-3C23-3BF137C8AA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83" t="19699" r="11793" b="18865"/>
          <a:stretch>
            <a:fillRect/>
          </a:stretch>
        </p:blipFill>
        <p:spPr>
          <a:xfrm>
            <a:off x="2532443" y="2317830"/>
            <a:ext cx="9659557" cy="42594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6394" y="33145"/>
            <a:ext cx="9980682" cy="1205345"/>
          </a:xfrm>
        </p:spPr>
        <p:txBody>
          <a:bodyPr>
            <a:normAutofit/>
          </a:bodyPr>
          <a:lstStyle/>
          <a:p>
            <a:r>
              <a:rPr lang="en-US" sz="4000" dirty="0"/>
              <a:t>                  THANK YOU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898" y="1238490"/>
            <a:ext cx="10212178" cy="5037883"/>
          </a:xfrm>
        </p:spPr>
        <p:txBody>
          <a:bodyPr/>
          <a:lstStyle/>
          <a:p>
            <a:endParaRPr lang="en-US" dirty="0"/>
          </a:p>
          <a:p>
            <a:r>
              <a:rPr lang="en-US" sz="3600" b="1" dirty="0"/>
              <a:t>“</a:t>
            </a:r>
            <a:r>
              <a:rPr lang="en-US" sz="36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Treat your password like your toothbrush change often but never share it.“</a:t>
            </a:r>
          </a:p>
          <a:p>
            <a:br>
              <a:rPr lang="en-US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 —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GEETHA</a:t>
            </a:r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54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600</TotalTime>
  <Words>1312</Words>
  <Application>Microsoft Office PowerPoint</Application>
  <PresentationFormat>Widescreen</PresentationFormat>
  <Paragraphs>143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Arial Black</vt:lpstr>
      <vt:lpstr>Calibri</vt:lpstr>
      <vt:lpstr>Cascadia Code SemiBold</vt:lpstr>
      <vt:lpstr>Euphemia</vt:lpstr>
      <vt:lpstr>Plantagenet Cherokee</vt:lpstr>
      <vt:lpstr>Wingdings</vt:lpstr>
      <vt:lpstr>Academic Literature 16x9</vt:lpstr>
      <vt:lpstr>Phishing websites detection using machine learning</vt:lpstr>
      <vt:lpstr>Introduction</vt:lpstr>
      <vt:lpstr>Phishing activity trends report, 4th quarter 2024</vt:lpstr>
      <vt:lpstr>Literature review</vt:lpstr>
      <vt:lpstr> List based detection</vt:lpstr>
      <vt:lpstr>Visual similarity-based detection </vt:lpstr>
      <vt:lpstr>System architecture</vt:lpstr>
      <vt:lpstr>Anatomy of URL</vt:lpstr>
      <vt:lpstr>Data collection and feature extraction</vt:lpstr>
      <vt:lpstr>Elaboration of each feature with example</vt:lpstr>
      <vt:lpstr>Domain based features</vt:lpstr>
      <vt:lpstr>Html based</vt:lpstr>
      <vt:lpstr>heatmap to understand the correlation between feature variables.</vt:lpstr>
      <vt:lpstr>Algorithms used</vt:lpstr>
      <vt:lpstr>Comparison table of algorithms classification report</vt:lpstr>
      <vt:lpstr> Results and analysis</vt:lpstr>
      <vt:lpstr>Created an User interface for real time detection </vt:lpstr>
      <vt:lpstr>Takes the input as URL and detects </vt:lpstr>
      <vt:lpstr>URL checked result is displayed.</vt:lpstr>
      <vt:lpstr>Random domain name given as input to check </vt:lpstr>
      <vt:lpstr>PowerPoint Presentation</vt:lpstr>
      <vt:lpstr>conclusion</vt:lpstr>
      <vt:lpstr>Future work and scope</vt:lpstr>
      <vt:lpstr>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Nadimidoddi Solman</dc:creator>
  <cp:lastModifiedBy>Nadimidoddi Solman</cp:lastModifiedBy>
  <cp:revision>4</cp:revision>
  <dcterms:created xsi:type="dcterms:W3CDTF">2025-08-03T11:31:41Z</dcterms:created>
  <dcterms:modified xsi:type="dcterms:W3CDTF">2025-08-11T14:30:38Z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